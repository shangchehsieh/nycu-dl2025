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22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bold.fntdata"/><Relationship Id="rId13" Type="http://schemas.openxmlformats.org/officeDocument/2006/relationships/slide" Target="slides/slide8.xml"/><Relationship Id="rId24" Type="http://schemas.openxmlformats.org/officeDocument/2006/relationships/font" Target="fonts/AlfaSlabOne-regular.fntdata"/><Relationship Id="rId12" Type="http://schemas.openxmlformats.org/officeDocument/2006/relationships/slide" Target="slides/slide7.xml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29b828eb5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29b828eb5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9b828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9b828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Transformer</a:t>
            </a:r>
            <a:r>
              <a:rPr lang="zh-TW"/>
              <a:t>的核心：attention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large values of dk, the dot products grow large in magnitude, pushing the softmax function into regions where it has extremely small gradients</a:t>
            </a:r>
            <a:r>
              <a:rPr lang="zh-TW"/>
              <a:t>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counteract this effect, we scale the dot products by 1/ 根號dk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45445b8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45445b8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Transformer的核心：attention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large values of dk, the dot products grow large in magnitude, pushing the softmax function into regions where it has extremely small gradients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counteract this effect, we scale the dot products by 1/ 根號dk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45445b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45445b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r>
              <a:rPr lang="zh-TW" sz="1200">
                <a:solidFill>
                  <a:schemeClr val="dk1"/>
                </a:solidFill>
              </a:rPr>
              <a:t>Now, I will introduce the core mechanism of the Transformer, which is called Attention.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The main idea of Attention is to let the model find out which parts of the input are important for making a decision. In Scaled Dot-Product Attention, we have three things: a Query, a set of Keys, and their Values.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First, we compare the Query to each Key by calculating a similarity score. These scores tell us how related each Key is to the Query. Then, we use these scores to create a weighted average of the Values. This makes the model focus more on the important parts.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The formula is:</a:t>
            </a:r>
            <a:br>
              <a:rPr lang="zh-TW" sz="1200">
                <a:solidFill>
                  <a:schemeClr val="dk1"/>
                </a:solidFill>
              </a:rPr>
            </a:br>
            <a:r>
              <a:rPr lang="zh-TW" sz="1200">
                <a:solidFill>
                  <a:schemeClr val="dk1"/>
                </a:solidFill>
              </a:rPr>
              <a:t>Here, </a:t>
            </a:r>
            <a:r>
              <a:rPr lang="zh-TW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dk</a:t>
            </a:r>
            <a:r>
              <a:rPr lang="zh-TW" sz="1200">
                <a:solidFill>
                  <a:schemeClr val="dk1"/>
                </a:solidFill>
              </a:rPr>
              <a:t> is a scaling factor to prevent the dot products from getting too large. Without this scaling, gradients might become too small during training.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The output is a combination of the Values, where the most important information, based on the Query, is given more weight. This helps the model pay attention automatically to the right information.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29b828eb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29b828e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論文中設定 h = 8，每個 Head 的維度是 64，</a:t>
            </a:r>
            <a:br>
              <a:rPr lang="zh-TW" sz="1200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</a:br>
            <a:r>
              <a:rPr lang="zh-TW" sz="1200">
                <a:solidFill>
                  <a:schemeClr val="dk1"/>
                </a:solidFill>
                <a:latin typeface="PMingLiu"/>
                <a:ea typeface="PMingLiu"/>
                <a:cs typeface="PMingLiu"/>
                <a:sym typeface="PMingLiu"/>
              </a:rPr>
              <a:t>總維度仍是 512，因此計算量並沒有變大。</a:t>
            </a:r>
            <a:endParaRPr sz="1200">
              <a:solidFill>
                <a:schemeClr val="dk1"/>
              </a:solidFill>
              <a:latin typeface="PMingLiu"/>
              <a:ea typeface="PMingLiu"/>
              <a:cs typeface="PMingLiu"/>
              <a:sym typeface="PMingLiu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MingLiu"/>
              <a:ea typeface="PMingLiu"/>
              <a:cs typeface="PMingLiu"/>
              <a:sym typeface="PMingLiu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Next, I will explain Multi-Head Attention, which is another key part of the Transformer.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Instead of using Attention only once, the Transformer uses several Attention 'heads' in parallel. Each head learns to focus on different types of information at the same time.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Technically, we first split the input vectors Q, K, and V into h groups using different linear projections. Each group is called a head. We run Scaled Dot-Product Attention separately for each head. Then, we combine the outputs from all heads together.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This way, each head can capture different relationships in the data. For example, one head might learn grammar, another might learn meaning.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In the original paper, h is set to 8, and each head has a dimension of 64. The final combined dimension is still 512, so the computation is efficient.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In short, Multi-Head Attention lets the model learn more complex patterns from the data by looking at it from different perspectives at the same time.</a:t>
            </a:r>
            <a:endParaRPr sz="1200">
              <a:solidFill>
                <a:schemeClr val="dk1"/>
              </a:solidFill>
              <a:latin typeface="PMingLiu"/>
              <a:ea typeface="PMingLiu"/>
              <a:cs typeface="PMingLiu"/>
              <a:sym typeface="PMingLiu"/>
            </a:endParaRPr>
          </a:p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PMingLiu"/>
              <a:ea typeface="PMingLiu"/>
              <a:cs typeface="PMingLiu"/>
              <a:sym typeface="PMingLiu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9b828eb5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9b828eb5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3b2f417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3b2f417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3b2f417e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3b2f417e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95ab236e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95ab236e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59005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59005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95ab236e5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95ab236e5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95ab236e5_7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95ab236e5_7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97340f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97340f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/>
              <a:t>Attention Is All You Need</a:t>
            </a:r>
            <a:endParaRPr sz="45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/>
              <a:t>Transformer</a:t>
            </a:r>
            <a:endParaRPr sz="2300"/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3444975"/>
            <a:ext cx="8520600" cy="11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陳宜蓁 111705007、范士朋 314511051、陳大福 314511073、</a:t>
            </a:r>
            <a:r>
              <a:rPr lang="zh-TW" sz="1800"/>
              <a:t>翁祐宸 314611104</a:t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曾耀陞 A141074、</a:t>
            </a:r>
            <a:r>
              <a:rPr lang="zh-TW" sz="1800"/>
              <a:t>戴廷勳 A141083、</a:t>
            </a:r>
            <a:r>
              <a:rPr lang="zh-TW" sz="1800"/>
              <a:t>謝尚哲 A141163、蔡忻恩 A141199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Introduction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Model Structure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Attention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Other modules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Self-Attention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Training and Results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Conclusion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6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Introduction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19475" y="842250"/>
            <a:ext cx="4217700" cy="20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7200"/>
              <a:t>Background:</a:t>
            </a:r>
            <a:endParaRPr b="1" sz="72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87500"/>
              <a:buChar char="●"/>
            </a:pPr>
            <a:r>
              <a:rPr lang="zh-TW" sz="6400">
                <a:solidFill>
                  <a:srgbClr val="666666"/>
                </a:solidFill>
              </a:rPr>
              <a:t>Neural machine translation (</a:t>
            </a:r>
            <a:r>
              <a:rPr lang="zh-TW" sz="6400">
                <a:solidFill>
                  <a:srgbClr val="666666"/>
                </a:solidFill>
              </a:rPr>
              <a:t>NMT) systems rely on RNN/CNN encoder–decoder architectures</a:t>
            </a:r>
            <a:endParaRPr sz="6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87500"/>
              <a:buChar char="●"/>
            </a:pPr>
            <a:r>
              <a:rPr b="1" lang="zh-TW" sz="6400">
                <a:solidFill>
                  <a:srgbClr val="666666"/>
                </a:solidFill>
              </a:rPr>
              <a:t>Attention</a:t>
            </a:r>
            <a:r>
              <a:rPr lang="zh-TW" sz="6400">
                <a:solidFill>
                  <a:srgbClr val="666666"/>
                </a:solidFill>
              </a:rPr>
              <a:t> mechanisms help modeling dependencies, but </a:t>
            </a:r>
            <a:r>
              <a:rPr b="1" lang="zh-TW" sz="6400">
                <a:solidFill>
                  <a:srgbClr val="666666"/>
                </a:solidFill>
              </a:rPr>
              <a:t>only as an additional component</a:t>
            </a:r>
            <a:endParaRPr b="1" sz="64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81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637175" y="842250"/>
            <a:ext cx="4751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Solution - Transformer</a:t>
            </a:r>
            <a:endParaRPr sz="2500">
              <a:solidFill>
                <a:srgbClr val="666666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TW" sz="1600"/>
              <a:t>eliminates recurrence and convolutions</a:t>
            </a:r>
            <a:endParaRPr sz="16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zh-TW" sz="1600"/>
              <a:t>self-attention</a:t>
            </a:r>
            <a:endParaRPr b="1" sz="16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600"/>
              <a:t>constant path length</a:t>
            </a:r>
            <a:endParaRPr sz="16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600"/>
              <a:t>more </a:t>
            </a:r>
            <a:r>
              <a:rPr b="1" lang="zh-TW" sz="1600"/>
              <a:t>parallelization</a:t>
            </a:r>
            <a:endParaRPr b="1"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311700" y="2821375"/>
            <a:ext cx="43254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Limitation: 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TW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Sequential computation in RNNs/CNNs </a:t>
            </a:r>
            <a:r>
              <a:rPr b="1" lang="zh-TW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restricts parallelization and slows training</a:t>
            </a:r>
            <a:r>
              <a:rPr lang="zh-TW" sz="16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, especially for long sequences.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6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Structure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041575" y="936371"/>
            <a:ext cx="4715700" cy="42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Encoder:</a:t>
            </a:r>
            <a:endParaRPr b="1"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a stack of N = 6 identical layers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two sublayers: </a:t>
            </a:r>
            <a:r>
              <a:rPr b="1" lang="zh-TW" sz="1400"/>
              <a:t>multi-head attention</a:t>
            </a:r>
            <a:r>
              <a:rPr lang="zh-TW" sz="1400"/>
              <a:t>, </a:t>
            </a:r>
            <a:r>
              <a:rPr b="1" lang="zh-TW" sz="1400"/>
              <a:t>position-wise feed-forward network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residual connection followed by layer normalization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output of each sub-layer 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/>
              <a:t>Decoder:</a:t>
            </a:r>
            <a:endParaRPr b="1" sz="1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a stack of N = 6 identical layers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three sublayers:  </a:t>
            </a:r>
            <a:r>
              <a:rPr b="1" lang="zh-TW" sz="1400"/>
              <a:t>masked multi-head self-attention, </a:t>
            </a:r>
            <a:r>
              <a:rPr lang="zh-TW" sz="1400"/>
              <a:t>multi-head attention, position-wise feed-forward network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zh-TW" sz="1400">
                <a:solidFill>
                  <a:srgbClr val="666666"/>
                </a:solidFill>
              </a:rPr>
              <a:t>ensures output token at position i only depends on tokens before i</a:t>
            </a:r>
            <a:endParaRPr sz="17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86" y="763600"/>
            <a:ext cx="3044449" cy="411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16534"/>
          <a:stretch/>
        </p:blipFill>
        <p:spPr>
          <a:xfrm>
            <a:off x="6663417" y="2498714"/>
            <a:ext cx="2093850" cy="158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1415675" y="3450425"/>
            <a:ext cx="36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sz="18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653725" y="2245900"/>
            <a:ext cx="556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 rot="10800000">
            <a:off x="463325" y="3262575"/>
            <a:ext cx="1032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6"/>
          <p:cNvSpPr txBox="1"/>
          <p:nvPr/>
        </p:nvSpPr>
        <p:spPr>
          <a:xfrm>
            <a:off x="-66600" y="2555400"/>
            <a:ext cx="10539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Sublayer(x)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 rot="10800000">
            <a:off x="447450" y="2931500"/>
            <a:ext cx="25800" cy="34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 txBox="1"/>
          <p:nvPr/>
        </p:nvSpPr>
        <p:spPr>
          <a:xfrm>
            <a:off x="1415675" y="2776101"/>
            <a:ext cx="360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x’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 rot="10800000">
            <a:off x="471263" y="2576975"/>
            <a:ext cx="103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 rot="10800000">
            <a:off x="455388" y="2245900"/>
            <a:ext cx="25800" cy="34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6"/>
          <p:cNvSpPr txBox="1"/>
          <p:nvPr/>
        </p:nvSpPr>
        <p:spPr>
          <a:xfrm>
            <a:off x="0" y="1848225"/>
            <a:ext cx="1214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Sublayer(x’)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Scaled Dot-Product Attention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292175" y="2728700"/>
            <a:ext cx="4540200" cy="18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much faster and more space-efficient in practice than additive attention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To prevent large dot products: 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-8" l="0" r="1951" t="14902"/>
          <a:stretch/>
        </p:blipFill>
        <p:spPr>
          <a:xfrm>
            <a:off x="931625" y="1421848"/>
            <a:ext cx="3035225" cy="28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438" y="1943100"/>
            <a:ext cx="37814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0411" y="3479540"/>
            <a:ext cx="305434" cy="26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Multi-Head Attention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4133050" y="3087875"/>
            <a:ext cx="4699200" cy="17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L</a:t>
            </a:r>
            <a:r>
              <a:rPr lang="zh-TW"/>
              <a:t>inearly project the queries, keys and values h times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/>
              <a:t>Allow the model to jointly attend to information from different representation subspaces at different positions.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96" y="1107959"/>
            <a:ext cx="2935525" cy="35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050" y="2339775"/>
            <a:ext cx="4617251" cy="6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900"/>
              <a:t>Position-wise Feed-Forward Networks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00"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125425" y="2397100"/>
            <a:ext cx="7707000" cy="23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639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13"/>
              <a:buChar char="●"/>
            </a:pPr>
            <a:r>
              <a:rPr lang="zh-TW" sz="2012"/>
              <a:t>Applied to each position independently and identically</a:t>
            </a:r>
            <a:endParaRPr sz="2012"/>
          </a:p>
          <a:p>
            <a:pPr indent="-356393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13"/>
              <a:buChar char="●"/>
            </a:pPr>
            <a:r>
              <a:rPr lang="zh-TW" sz="2012"/>
              <a:t>Two linear layers with ReLU activation</a:t>
            </a:r>
            <a:br>
              <a:rPr lang="zh-TW" sz="2012"/>
            </a:br>
            <a:r>
              <a:rPr lang="zh-TW" sz="2012"/>
              <a:t>（512 → 2048 → 512）</a:t>
            </a:r>
            <a:endParaRPr sz="2012"/>
          </a:p>
          <a:p>
            <a:pPr indent="-3563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13"/>
              <a:buChar char="●"/>
            </a:pPr>
            <a:r>
              <a:rPr lang="zh-TW" sz="2012"/>
              <a:t>Enhances non-linearity and transformation capacity</a:t>
            </a:r>
            <a:endParaRPr sz="2012"/>
          </a:p>
          <a:p>
            <a:pPr indent="-3563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13"/>
              <a:buChar char="●"/>
            </a:pPr>
            <a:r>
              <a:rPr lang="zh-TW" sz="2012"/>
              <a:t>Works together with Attention to form each Transformer layer</a:t>
            </a:r>
            <a:endParaRPr sz="201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25"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0" name="Google Shape;120;p19" title="截圖 2025-11-15 晚上10.50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513" y="1231163"/>
            <a:ext cx="55149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900"/>
              <a:t>Embeddings and Softmax</a:t>
            </a:r>
            <a:endParaRPr sz="2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900"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235525"/>
            <a:ext cx="85206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/>
              <a:t>Convert tokens into d_model-dimensional embeddings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/>
              <a:t>Shared weight matrix for input embedding, output embedding, and pre-softmax linear layer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/>
              <a:t>Embedding weights are scaled by √d_model for stable training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/>
              <a:t>‹#›</a:t>
            </a:fld>
            <a:endParaRPr sz="1200"/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268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900"/>
              <a:t>Positional Encoding</a:t>
            </a:r>
            <a:endParaRPr sz="2900"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3416125"/>
            <a:ext cx="8520600" cy="14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Transformer needs position information (no RNN/CNN)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/>
              <a:t>Add sinusoidal positional encodings to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zh-TW"/>
              <a:t>Enables the model to learn relative and absolute positions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900"/>
              <a:t>Why Self-Attention?</a:t>
            </a:r>
            <a:endParaRPr sz="2900"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827700" y="3064025"/>
            <a:ext cx="8004600" cy="17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Enables modeling long-range dependencies in </a:t>
            </a:r>
            <a:r>
              <a:rPr b="1" lang="zh-TW" sz="2000"/>
              <a:t>one step</a:t>
            </a:r>
            <a:endParaRPr b="1"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More parallelizable than RNN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Constant path length between any two positions</a:t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Handles global context efficiently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/>
              <a:t>‹#›</a:t>
            </a:fld>
            <a:endParaRPr sz="1200"/>
          </a:p>
        </p:txBody>
      </p:sp>
      <p:pic>
        <p:nvPicPr>
          <p:cNvPr id="137" name="Google Shape;137;p21" title="截圖 2025-11-15 晚上11.45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813" y="1220825"/>
            <a:ext cx="7012362" cy="164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Results-Machine Translation</a:t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419425" y="1243575"/>
            <a:ext cx="3745500" cy="33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726950" y="1243575"/>
            <a:ext cx="3745500" cy="33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84325" y="1920525"/>
            <a:ext cx="32229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Dataset:</a:t>
            </a:r>
            <a:r>
              <a:rPr lang="zh-TW" sz="1500">
                <a:solidFill>
                  <a:srgbClr val="475569"/>
                </a:solidFill>
              </a:rPr>
              <a:t>                 </a:t>
            </a:r>
            <a:r>
              <a:rPr lang="zh-TW" sz="1500">
                <a:solidFill>
                  <a:srgbClr val="475569"/>
                </a:solidFill>
              </a:rPr>
              <a:t> 		</a:t>
            </a:r>
            <a:r>
              <a:rPr lang="zh-TW" sz="1500">
                <a:solidFill>
                  <a:srgbClr val="475569"/>
                </a:solidFill>
              </a:rPr>
              <a:t>  WMT 2014 EN-DE EN-FR</a:t>
            </a:r>
            <a:endParaRPr sz="1500">
              <a:solidFill>
                <a:srgbClr val="475569"/>
              </a:solidFill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Optimizer:</a:t>
            </a:r>
            <a:r>
              <a:rPr lang="zh-TW" sz="1500">
                <a:solidFill>
                  <a:srgbClr val="475569"/>
                </a:solidFill>
              </a:rPr>
              <a:t>                      Adam</a:t>
            </a:r>
            <a:endParaRPr sz="1500">
              <a:solidFill>
                <a:srgbClr val="475569"/>
              </a:solidFill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Learning Rate:</a:t>
            </a:r>
            <a:r>
              <a:rPr lang="zh-TW" sz="1500">
                <a:solidFill>
                  <a:srgbClr val="475569"/>
                </a:solidFill>
              </a:rPr>
              <a:t>           Warmup + Inverse Sqrt Decay</a:t>
            </a:r>
            <a:endParaRPr sz="1500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765275" y="1361300"/>
            <a:ext cx="28992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Training Setup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5150100" y="1420125"/>
            <a:ext cx="28992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SOTA Results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988250" y="1920525"/>
            <a:ext cx="32229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EN-DE Translation:</a:t>
            </a:r>
            <a:r>
              <a:rPr lang="zh-TW" sz="1500">
                <a:solidFill>
                  <a:srgbClr val="475569"/>
                </a:solidFill>
              </a:rPr>
              <a:t>          28.4 BLEU</a:t>
            </a:r>
            <a:endParaRPr sz="1500">
              <a:solidFill>
                <a:srgbClr val="475569"/>
              </a:solidFill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EN-FR Translation:</a:t>
            </a:r>
            <a:r>
              <a:rPr lang="zh-TW" sz="1500">
                <a:solidFill>
                  <a:srgbClr val="475569"/>
                </a:solidFill>
              </a:rPr>
              <a:t>          41.0 BLEU </a:t>
            </a:r>
            <a:endParaRPr sz="1500">
              <a:solidFill>
                <a:srgbClr val="475569"/>
              </a:solidFill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Char char="●"/>
            </a:pPr>
            <a:r>
              <a:rPr b="1" lang="zh-TW" sz="1500">
                <a:solidFill>
                  <a:srgbClr val="475569"/>
                </a:solidFill>
              </a:rPr>
              <a:t>Key Conclusion:</a:t>
            </a:r>
            <a:r>
              <a:rPr lang="zh-TW" sz="1500">
                <a:solidFill>
                  <a:srgbClr val="475569"/>
                </a:solidFill>
              </a:rPr>
              <a:t>      Achieved a new SOTA at a fraction of the training cost.</a:t>
            </a:r>
            <a:endParaRPr sz="1500">
              <a:solidFill>
                <a:srgbClr val="475569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5" name="Google Shape;155;p23" title="截圖 2025-11-17 凌晨1.56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00" y="751962"/>
            <a:ext cx="8066975" cy="363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Results-Model Variations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161900" y="1221500"/>
            <a:ext cx="2119200" cy="323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2374650" y="1221500"/>
            <a:ext cx="2119200" cy="323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4587400" y="1241875"/>
            <a:ext cx="2119200" cy="323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6800150" y="1241875"/>
            <a:ext cx="2119200" cy="323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257600" y="1324500"/>
            <a:ext cx="1927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Attention Heads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279625" y="2185425"/>
            <a:ext cx="1927800" cy="1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75569"/>
                </a:solidFill>
              </a:rPr>
              <a:t>A single head performs worse, but too many heads also degrades quality. 8 heads was optimal.</a:t>
            </a:r>
            <a:endParaRPr sz="2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2470350" y="1324500"/>
            <a:ext cx="1927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Key Dimension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404125" y="2185425"/>
            <a:ext cx="2119200" cy="1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75569"/>
                </a:solidFill>
              </a:rPr>
              <a:t>Reducing the key dimension significantly hurts model quality, suggesting compatibility is non-trivial.</a:t>
            </a:r>
            <a:endParaRPr sz="2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683100" y="1324500"/>
            <a:ext cx="1927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Model Size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602125" y="2185425"/>
            <a:ext cx="2119200" cy="1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75569"/>
                </a:solidFill>
              </a:rPr>
              <a:t>Bigger models perform better. Dropout is essential to prevent overfitting.</a:t>
            </a:r>
            <a:endParaRPr sz="24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6735650" y="1324500"/>
            <a:ext cx="22482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Positional Encoding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6829600" y="2185425"/>
            <a:ext cx="2119200" cy="1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75569"/>
                </a:solidFill>
              </a:rPr>
              <a:t>Using Sinusoidal or Learned positional encodings resulted in nearly identical performance.</a:t>
            </a:r>
            <a:endParaRPr sz="2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Conclusion &amp; Impact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311700" y="1152475"/>
            <a:ext cx="533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00508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Contributions</a:t>
            </a:r>
            <a:endParaRPr b="1" sz="2400">
              <a:solidFill>
                <a:srgbClr val="00508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ct val="100000"/>
              <a:buFont typeface="Arial"/>
              <a:buChar char="●"/>
            </a:pPr>
            <a:r>
              <a:rPr b="1"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New Architecture:                                                                                      </a:t>
            </a:r>
            <a:r>
              <a:rPr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Based solely on attention, dropping RNNs/CNNs for parallelization.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ct val="100000"/>
              <a:buFont typeface="Arial"/>
              <a:buChar char="●"/>
            </a:pPr>
            <a:r>
              <a:rPr b="1"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Long-Range:</a:t>
            </a:r>
            <a:r>
              <a:rPr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O(1) path length effectively captures long-range dependencies.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ct val="100000"/>
              <a:buFont typeface="Arial"/>
              <a:buChar char="●"/>
            </a:pPr>
            <a:r>
              <a:rPr b="1"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SOTA:</a:t>
            </a:r>
            <a:r>
              <a:rPr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Faster to train and more accurate, becoming an NLP milestone.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00508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Impact</a:t>
            </a:r>
            <a:endParaRPr b="1" sz="2400">
              <a:solidFill>
                <a:srgbClr val="00508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rgbClr val="475569"/>
              </a:buClr>
              <a:buSzPct val="100000"/>
              <a:buFont typeface="Arial"/>
              <a:buChar char="●"/>
            </a:pPr>
            <a:r>
              <a:rPr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foundation for subsequent models: BERT, GPT, T5, ViT.</a:t>
            </a:r>
            <a:endParaRPr sz="1500">
              <a:solidFill>
                <a:srgbClr val="47556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ct val="100000"/>
              <a:buFont typeface="Arial"/>
              <a:buChar char="●"/>
            </a:pPr>
            <a:r>
              <a:rPr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core insight: </a:t>
            </a:r>
            <a:r>
              <a:rPr b="1" lang="zh-TW" sz="1500">
                <a:solidFill>
                  <a:srgbClr val="47556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"Attention Is All You Need."</a:t>
            </a:r>
            <a:endParaRPr b="1" sz="1500">
              <a:solidFill>
                <a:srgbClr val="47556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975" y="1017725"/>
            <a:ext cx="2645696" cy="364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THANKS</a:t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